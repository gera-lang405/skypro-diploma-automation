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B3C49"/>
                </a:solidFill>
                <a:latin typeface="Calibri"/>
              </a:defRPr>
            </a:pPr>
            <a:r>
              <a:rPr sz="1400" b="0" i="0" u="none" strike="noStrike">
                <a:solidFill>
                  <a:srgbClr val="0B3C49"/>
                </a:solidFill>
                <a:latin typeface="Calibri"/>
              </a:rPr>
              <a:t>Пункты по видам проверок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Пройдено</c:v>
                </c:pt>
              </c:strCache>
            </c:strRef>
          </c:tx>
          <c:spPr>
            <a:solidFill>
              <a:srgbClr val="2F7D4F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UI/UX</c:v>
                  </c:pt>
                  <c:pt idx="1">
                    <c:v>Кросс-браузерность</c:v>
                  </c:pt>
                  <c:pt idx="2">
                    <c:v>Доступность</c:v>
                  </c:pt>
                  <c:pt idx="3">
                    <c:v>Производительность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2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Не пройдено</c:v>
                </c:pt>
              </c:strCache>
            </c:strRef>
          </c:tx>
          <c:spPr>
            <a:solidFill>
              <a:srgbClr val="E8692E"/>
            </a:solidFill>
            <a:effectLst/>
          </c:spPr>
          <c:invertIfNegative val="0"/>
          <c:dLbls>
            <c:numFmt formatCode="0;;;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FFFFFF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UI/UX</c:v>
                  </c:pt>
                  <c:pt idx="1">
                    <c:v>Кросс-браузерность</c:v>
                  </c:pt>
                  <c:pt idx="2">
                    <c:v>Доступность</c:v>
                  </c:pt>
                  <c:pt idx="3">
                    <c:v>Производительность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1</c:v>
                </c:pt>
                <c:pt idx="3">
                  <c:v>1</c:v>
                </c:pt>
              </c:numCache>
            </c:numRef>
          </c:val>
        </c:ser>
        <c:dLbls>
          <c:numFmt formatCode="0;;;" sourceLinked="0"/>
          <c:txPr>
            <a:bodyPr/>
            <a:lstStyle/>
            <a:p>
              <a:pPr>
                <a:defRPr b="1" i="0" strike="noStrike" sz="1200" u="none">
                  <a:solidFill>
                    <a:srgbClr val="FFFFFF"/>
                  </a:solidFill>
                  <a:latin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6323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1632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Привет! Я Георгий, это моя дипломная работа по тестированию. Проверял два объекта: интернет-магазин «Читай-город» через интерфейс и сервис задач Todo List через API. Расскажу, что и как тестировал, что нашёл и какие выводы сделал.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Задача диплома — показать полный цикл: от тест-плана до отчёта. Я шёл по шагам: план, кейсы и чек-лист, коллекция в Postman, автотесты и в конце прогон с отчётом.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Интерфейс проверял на «Читай-городе» без входа в аккаунт: поиск и карточку товара. API — на сервисе задач Todo List: всё, что можно сделать с задачей, плюс три негативных сценария.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Изначально API-часть была на учебном сервере, и в Postman всё проходило. Но в день прогона сервер перестал отвечать. Я перенёс кейсы на JSONPlaceholder: модель та же, так что структура кейсов не поменялась, а ответы нового сервиса я заранее проверил руками.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Вот объём документации. Функциональных кейсов пять, все позитивные: негативные сценарии у меня в API. Чек-лист — двенадцать пунктов по четырём видам проверок. Всё выложено: план и отчёт в Yonote, кейсы в Excel, коллекция в Postman, код на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Функциональные кейсы — про поиск и карточку товара. Ищу по названию и по автору, проверяю, что выдача показывается, что из неё открывается карточка и что в карточке есть название книги.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API пять позитивных проверок — весь цикл жизни задачи — и три негативных: несуществующий id, id не числом и запрос неподдерживаемым методом. Негативных меньше, чем позитивных, как требует задание. Всё то же самое есть в коллекции Postman.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Нефункциональный чек-лист — двенадцать пунктов: интерфейс, кросс-браузерность, доступность и производительность. Десять прошли, два нет, и по обоим я завёл дефекты. Сайт смотрел в Chrome, Edge и Яндекс Браузере.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Стек по заданию: pytest, requests для API, Playwright для интерфейса, отчёты в Allure. Жёстких пауз нет, только явные ожидания. Тесты независимые, данные вынесены в конфиг, линтер чистый.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Финальный прогон: тринадцать из тринадцати за тридцать пять секунд. По ходу я нашёл ошибки в самих тестах: они могли проходить, даже если поиск не сработал. Исправил — теперь тесты ждут именно результаты поиска. Покажу отчёт Allure.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Первый дефект — доступность. Белый текст на розовом бейдже скидки даёт контраст 4,04 к 1, а по WCAG нужно минимум 4,5. Прочитать можно, но людям со слабым зрением тяжело. Серьёзность низкая, приоритет низкий.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Второй дефект серьёзнее. По реальным данным пользователей Chrome главная страница сильно «прыгает» при загрузке: CLS 0,7 при норме до 0,1. Для покупателя это значит, что кнопка может уехать из-под пальца. Скорость загрузки при этом нормальная.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Вывод: сайт в целом рабочий, ключевые функции работают. Первым я бы исправил сдвиги страницы, потом контраст бейджей, а в регрессию добавил бы проверки доступности и скорости, чтобы это не вернулось.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Спасибо за внимание! Ссылки на код и отчёт — на слайде. Готов ответить на вопросы.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Slide-8-image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9144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9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ДИПЛОМНАЯ РАБОТА · ИНЖЕНЕР ПО ТЕСТИРОВАНИЮ · SKY.PRO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371600"/>
            <a:ext cx="7315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Тестирую Читай-город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 Todo List API</a:t>
            </a:r>
            <a:endParaRPr lang="en-US" sz="38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29718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6EF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Функциональное, API- и нефункциональное тестирование. Автотесты на pytest + Playwright, отчёт в Allure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343400"/>
            <a:ext cx="5486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Георгий Селиванов</a:t>
            </a:r>
            <a:endParaRPr lang="en-US" sz="2000" dirty="0"/>
          </a:p>
          <a:p>
            <a:pPr indent="0" marL="0">
              <a:buNone/>
            </a:pPr>
            <a:r>
              <a:rPr lang="en-US" sz="1400" dirty="0">
                <a:solidFill>
                  <a:srgbClr val="9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Сочи · сентябрь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· ЗАЧЕМ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я хотел проверить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4754880" cy="4206240"/>
          </a:xfrm>
          <a:prstGeom prst="roundRect">
            <a:avLst>
              <a:gd name="adj" fmla="val 4783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01168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9FE0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Цель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60320"/>
            <a:ext cx="402336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Пройти весь цикл QA на живом сайте: спланировать, написать кейсы, проверить руками и автотестами, найти дефекты и оформить их так, чтобы разработчику было понятно, что чинить.</a:t>
            </a:r>
            <a:endParaRPr lang="en-US" sz="1900" dirty="0"/>
          </a:p>
        </p:txBody>
      </p:sp>
      <p:sp>
        <p:nvSpPr>
          <p:cNvPr id="8" name="Shape 6"/>
          <p:cNvSpPr/>
          <p:nvPr/>
        </p:nvSpPr>
        <p:spPr>
          <a:xfrm>
            <a:off x="5760720" y="1828800"/>
            <a:ext cx="457200" cy="457200"/>
          </a:xfrm>
          <a:prstGeom prst="ellipse">
            <a:avLst/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76072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400800" y="178308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Тест-план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тестирую, каким способом и в какие сроки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760720" y="2651760"/>
            <a:ext cx="457200" cy="457200"/>
          </a:xfrm>
          <a:prstGeom prst="ellipse">
            <a:avLst/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760720" y="2651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400800" y="260604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Тест-кейсы и чек-лист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UI-кейсов, 8 API-кейсов, 12 нефункциональных проверок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5760720" y="3474720"/>
            <a:ext cx="457200" cy="457200"/>
          </a:xfrm>
          <a:prstGeom prst="ellipse">
            <a:avLst/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760720" y="34747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0" y="342900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 Postman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запросов с проверками статуса и переменными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760720" y="4297680"/>
            <a:ext cx="457200" cy="457200"/>
          </a:xfrm>
          <a:prstGeom prst="ellipse">
            <a:avLst/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760720" y="4297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425196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Автотесты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requests для API, Playwright для интерфейса</a:t>
            </a:r>
            <a:endParaRPr lang="en-US" sz="1700" dirty="0"/>
          </a:p>
        </p:txBody>
      </p:sp>
      <p:sp>
        <p:nvSpPr>
          <p:cNvPr id="20" name="Shape 18"/>
          <p:cNvSpPr/>
          <p:nvPr/>
        </p:nvSpPr>
        <p:spPr>
          <a:xfrm>
            <a:off x="5760720" y="5120640"/>
            <a:ext cx="457200" cy="457200"/>
          </a:xfrm>
          <a:prstGeom prst="ellipse">
            <a:avLst/>
          </a:prstGeom>
          <a:solidFill>
            <a:srgbClr val="E8692E"/>
          </a:solidFill>
          <a:ln w="12700">
            <a:solidFill>
              <a:srgbClr val="E869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76072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00800" y="5074920"/>
            <a:ext cx="51206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Прогон и отчёт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Allure, баг-репорты, выводы в Yonote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· ОБЪЕКТЫ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чем я работал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5486400" cy="3886200"/>
          </a:xfrm>
          <a:prstGeom prst="roundRect">
            <a:avLst>
              <a:gd name="adj" fmla="val 51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Читай-город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4709160" y="18928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709160" y="18928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68680" y="228600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chitai-gorod.ru · веб-интерфейс, гостевой режим</a:t>
            </a:r>
            <a:endParaRPr lang="en-US" sz="1300" dirty="0"/>
          </a:p>
        </p:txBody>
      </p:sp>
      <p:pic>
        <p:nvPicPr>
          <p:cNvPr id="10" name="Image 0" descr="/tmp/claude-0/deck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2697480"/>
            <a:ext cx="4846320" cy="161436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868680" y="448056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книги по названию и фамилии автора</a:t>
            </a:r>
            <a:endParaRPr lang="en-US" sz="15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в карточку товара и её содержимое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6309360" y="1645920"/>
            <a:ext cx="5349240" cy="3886200"/>
          </a:xfrm>
          <a:prstGeom prst="roundRect">
            <a:avLst>
              <a:gd name="adj" fmla="val 517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6629400" y="182880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 List API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10332720" y="1892808"/>
            <a:ext cx="1005840" cy="329184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10332720" y="1892808"/>
            <a:ext cx="10058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228600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jsonplaceholder.typicode.com · REST, без авторизации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629400" y="28803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629400" y="2880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7818120" y="28803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818120" y="2880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9006840" y="28803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9006840" y="2880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10195560" y="288036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E8692E"/>
          </a:solidFill>
          <a:ln w="12700">
            <a:solidFill>
              <a:srgbClr val="E8692E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10195560" y="288036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6629400" y="3520440"/>
            <a:ext cx="47548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Получение списка и одной задачи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Создание, изменение и удаление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негативных сценария: чужой id, id не числом, неподдерживаемый метод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548640" y="576072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ключевые функции: поиск книги · карточка товара · управление задачами через API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· СМЕНА ПЛАНА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Почему API переехал на JSONPlaceholder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2468880" cy="310896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377440"/>
            <a:ext cx="548640" cy="548640"/>
          </a:xfrm>
          <a:prstGeom prst="ellipse">
            <a:avLst/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Был план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1188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Учебный сервер Todo List API. В Postman прошли 17 из 17 кейсов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3035808" y="33832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1" name="Shape 9"/>
          <p:cNvSpPr/>
          <p:nvPr/>
        </p:nvSpPr>
        <p:spPr>
          <a:xfrm>
            <a:off x="3383280" y="2103120"/>
            <a:ext cx="2468880" cy="3108960"/>
          </a:xfrm>
          <a:prstGeom prst="roundRect">
            <a:avLst>
              <a:gd name="adj" fmla="val 8148"/>
            </a:avLst>
          </a:prstGeom>
          <a:solidFill>
            <a:srgbClr val="FDE8DC"/>
          </a:solidFill>
          <a:ln w="12700">
            <a:solidFill>
              <a:srgbClr val="FDE8DC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0" y="2377440"/>
            <a:ext cx="548640" cy="548640"/>
          </a:xfrm>
          <a:prstGeom prst="ellipse">
            <a:avLst/>
          </a:prstGeom>
          <a:solidFill>
            <a:srgbClr val="E8692E"/>
          </a:solidFill>
          <a:ln w="12700">
            <a:solidFill>
              <a:srgbClr val="E8692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65760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Проблема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3657600" y="361188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сентября сервер перестал отвечать: таймаут соединения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870448" y="33832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7" name="Shape 15"/>
          <p:cNvSpPr/>
          <p:nvPr/>
        </p:nvSpPr>
        <p:spPr>
          <a:xfrm>
            <a:off x="6217920" y="2103120"/>
            <a:ext cx="2468880" cy="3108960"/>
          </a:xfrm>
          <a:prstGeom prst="roundRect">
            <a:avLst>
              <a:gd name="adj" fmla="val 8148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92240" y="2377440"/>
            <a:ext cx="548640" cy="548640"/>
          </a:xfrm>
          <a:prstGeom prst="ellipse">
            <a:avLst/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9224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9224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Решение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6492240" y="361188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JSONPlaceholder: та же модель «задача», авторизация не нужна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8705088" y="3383280"/>
            <a:ext cx="3291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23" name="Shape 21"/>
          <p:cNvSpPr/>
          <p:nvPr/>
        </p:nvSpPr>
        <p:spPr>
          <a:xfrm>
            <a:off x="9052560" y="2103120"/>
            <a:ext cx="2468880" cy="3108960"/>
          </a:xfrm>
          <a:prstGeom prst="roundRect">
            <a:avLst>
              <a:gd name="adj" fmla="val 8148"/>
            </a:avLst>
          </a:prstGeom>
          <a:solidFill>
            <a:srgbClr val="E3F2E6"/>
          </a:solidFill>
          <a:ln w="12700">
            <a:solidFill>
              <a:srgbClr val="E3F2E6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9326880" y="2377440"/>
            <a:ext cx="548640" cy="54864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326880" y="23774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326880" y="310896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32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Итог</a:t>
            </a:r>
            <a:endParaRPr 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9326880" y="3611880"/>
            <a:ext cx="1965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Структура кейсов сохранилась, каждый код ответа проверил вручную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5778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Подробности и история изменений — в тест-плане в Yonote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· ДОКУМЕНТАЦИЯ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Документация в цифрах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8308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2296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2BA7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функциональных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тест-кейсов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позитивные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3383280" y="178308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365760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600" dirty="0"/>
          </a:p>
        </p:txBody>
      </p:sp>
      <p:sp>
        <p:nvSpPr>
          <p:cNvPr id="11" name="Text 9"/>
          <p:cNvSpPr txBox="1"/>
          <p:nvPr/>
        </p:nvSpPr>
        <p:spPr>
          <a:xfrm>
            <a:off x="365760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API-тест-кейсов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365760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позитивных + 3 негативных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17920" y="178308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649224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0F6E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600" dirty="0"/>
          </a:p>
        </p:txBody>
      </p:sp>
      <p:sp>
        <p:nvSpPr>
          <p:cNvPr id="15" name="Text 13"/>
          <p:cNvSpPr txBox="1"/>
          <p:nvPr/>
        </p:nvSpPr>
        <p:spPr>
          <a:xfrm>
            <a:off x="649224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пунктов</a:t>
            </a:r>
            <a:endParaRPr lang="en-US" sz="1700" dirty="0"/>
          </a:p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чек-листа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649224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вида проверок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052560" y="1783080"/>
            <a:ext cx="2560320" cy="2834640"/>
          </a:xfrm>
          <a:prstGeom prst="roundRect">
            <a:avLst>
              <a:gd name="adj" fmla="val 78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9326880" y="1920240"/>
            <a:ext cx="20116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E8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600" dirty="0"/>
          </a:p>
        </p:txBody>
      </p:sp>
      <p:sp>
        <p:nvSpPr>
          <p:cNvPr id="19" name="Text 17"/>
          <p:cNvSpPr txBox="1"/>
          <p:nvPr/>
        </p:nvSpPr>
        <p:spPr>
          <a:xfrm>
            <a:off x="9326880" y="3063240"/>
            <a:ext cx="2103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автотестов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9326880" y="39319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UI + 8 API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48640" y="4937760"/>
            <a:ext cx="2560320" cy="822960"/>
          </a:xfrm>
          <a:prstGeom prst="roundRect">
            <a:avLst>
              <a:gd name="adj" fmla="val 24444"/>
            </a:avLst>
          </a:prstGeom>
          <a:solidFill>
            <a:srgbClr val="E4F2F1"/>
          </a:solidFill>
          <a:ln w="12700">
            <a:solidFill>
              <a:srgbClr val="E4F2F1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77240" y="500176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Тест-план и отчёт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Yonote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383280" y="4937760"/>
            <a:ext cx="2560320" cy="822960"/>
          </a:xfrm>
          <a:prstGeom prst="roundRect">
            <a:avLst>
              <a:gd name="adj" fmla="val 24444"/>
            </a:avLst>
          </a:prstGeom>
          <a:solidFill>
            <a:srgbClr val="E4F2F1"/>
          </a:solidFill>
          <a:ln w="12700">
            <a:solidFill>
              <a:srgbClr val="E4F2F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611880" y="500176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Кейсы и чек-лист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XLS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217920" y="4937760"/>
            <a:ext cx="2560320" cy="822960"/>
          </a:xfrm>
          <a:prstGeom prst="roundRect">
            <a:avLst>
              <a:gd name="adj" fmla="val 24444"/>
            </a:avLst>
          </a:prstGeom>
          <a:solidFill>
            <a:srgbClr val="E4F2F1"/>
          </a:solidFill>
          <a:ln w="12700">
            <a:solidFill>
              <a:srgbClr val="E4F2F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446520" y="500176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Коллекция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Postman, JSON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9052560" y="4937760"/>
            <a:ext cx="2560320" cy="822960"/>
          </a:xfrm>
          <a:prstGeom prst="roundRect">
            <a:avLst>
              <a:gd name="adj" fmla="val 24444"/>
            </a:avLst>
          </a:prstGeom>
          <a:solidFill>
            <a:srgbClr val="E4F2F1"/>
          </a:solidFill>
          <a:ln w="12700">
            <a:solidFill>
              <a:srgbClr val="E4F2F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281160" y="5001768"/>
            <a:ext cx="2194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автотестов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· ФУНКЦИОНАЛЬНЫЕ КЕЙСЫ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Интерфейс: поиск и карточка товара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512064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13232" y="1874520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874520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UI-01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737360" y="1764792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книги по названию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487168"/>
            <a:ext cx="512064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13232" y="2624328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713232" y="2624328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UI-02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737360" y="2514600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Первый товар в выдаче отображается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3236976"/>
            <a:ext cx="512064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713232" y="3374136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13232" y="3374136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UI-03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737360" y="3264408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по фамилии автора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548640" y="3986784"/>
            <a:ext cx="512064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13232" y="4123944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13232" y="4123944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UI-04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737360" y="4014216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Переход из выдачи в карточку товара</a:t>
            </a:r>
            <a:endParaRPr lang="en-US" sz="1600" dirty="0"/>
          </a:p>
        </p:txBody>
      </p:sp>
      <p:sp>
        <p:nvSpPr>
          <p:cNvPr id="21" name="Shape 19"/>
          <p:cNvSpPr/>
          <p:nvPr/>
        </p:nvSpPr>
        <p:spPr>
          <a:xfrm>
            <a:off x="548640" y="4736592"/>
            <a:ext cx="5120640" cy="603504"/>
          </a:xfrm>
          <a:prstGeom prst="roundRect">
            <a:avLst>
              <a:gd name="adj" fmla="val 2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713232" y="4873752"/>
            <a:ext cx="868680" cy="329184"/>
          </a:xfrm>
          <a:prstGeom prst="roundRect">
            <a:avLst>
              <a:gd name="adj" fmla="val 50000"/>
            </a:avLst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13232" y="4873752"/>
            <a:ext cx="868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UI-05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737360" y="4764024"/>
            <a:ext cx="3840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карточке видно название книги</a:t>
            </a:r>
            <a:endParaRPr 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557784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0F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 пять кейсов позитивные и закрыты автотестами на Playwright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099048" y="1709928"/>
            <a:ext cx="5541264" cy="1943426"/>
          </a:xfrm>
          <a:prstGeom prst="roundRect">
            <a:avLst>
              <a:gd name="adj" fmla="val 564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pic>
        <p:nvPicPr>
          <p:cNvPr id="27" name="Image 0" descr="/tmp/claude-0/deck/img/searc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783080"/>
            <a:ext cx="5394960" cy="1797122"/>
          </a:xfrm>
          <a:prstGeom prst="rect">
            <a:avLst/>
          </a:prstGeom>
        </p:spPr>
      </p:pic>
      <p:sp>
        <p:nvSpPr>
          <p:cNvPr id="28" name="Text 25"/>
          <p:cNvSpPr txBox="1"/>
          <p:nvPr/>
        </p:nvSpPr>
        <p:spPr>
          <a:xfrm>
            <a:off x="6172200" y="368993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Выдача по запросу «Роулинг»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099048" y="4101410"/>
            <a:ext cx="5541264" cy="1800692"/>
          </a:xfrm>
          <a:prstGeom prst="roundRect">
            <a:avLst>
              <a:gd name="adj" fmla="val 60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pic>
        <p:nvPicPr>
          <p:cNvPr id="30" name="Image 1" descr="/tmp/claude-0/deck/img/produc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4174562"/>
            <a:ext cx="5394960" cy="1654388"/>
          </a:xfrm>
          <a:prstGeom prst="rect">
            <a:avLst/>
          </a:prstGeom>
        </p:spPr>
      </p:pic>
      <p:sp>
        <p:nvSpPr>
          <p:cNvPr id="31" name="Text 27"/>
          <p:cNvSpPr txBox="1"/>
          <p:nvPr/>
        </p:nvSpPr>
        <p:spPr>
          <a:xfrm>
            <a:off x="6172200" y="5938678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Карточка товара: название, автор, цена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 · API-КЕЙСЫ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API: что проверяю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440680" cy="39776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Позитивные · 5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868680" y="251460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68680" y="251460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965960" y="24688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</a:t>
            </a:r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200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список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868680" y="3118104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68680" y="311810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65960" y="307238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/todos/1</a:t>
            </a:r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200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одна задача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8680" y="372160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68680" y="37216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1965960" y="367588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</a:t>
            </a:r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201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создание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68680" y="4325112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68680" y="4325112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65960" y="4279392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/todos/1</a:t>
            </a:r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200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изменение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68680" y="4928616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E8692E"/>
          </a:solidFill>
          <a:ln w="12700">
            <a:solidFill>
              <a:srgbClr val="E8692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68680" y="4928616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965960" y="4882896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/todos/1</a:t>
            </a:r>
            <a:pPr indent="0" marL="0">
              <a:buNone/>
            </a:pPr>
            <a:r>
              <a:rPr lang="en-US" sz="14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200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удаление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217920" y="1691640"/>
            <a:ext cx="5440680" cy="3977640"/>
          </a:xfrm>
          <a:prstGeom prst="roundRect">
            <a:avLst>
              <a:gd name="adj" fmla="val 5057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537960" y="18745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8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Негативные · 3</a:t>
            </a:r>
            <a:endParaRPr lang="en-US" sz="2000" dirty="0"/>
          </a:p>
        </p:txBody>
      </p:sp>
      <p:sp>
        <p:nvSpPr>
          <p:cNvPr id="24" name="Shape 22"/>
          <p:cNvSpPr/>
          <p:nvPr/>
        </p:nvSpPr>
        <p:spPr>
          <a:xfrm>
            <a:off x="6537960" y="2514600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537960" y="2514600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7635240" y="2468880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/todos/999999</a:t>
            </a:r>
            <a:pPr indent="0" marL="0">
              <a:buNone/>
            </a:pPr>
            <a:r>
              <a:rPr lang="en-US" sz="1400" b="1" dirty="0">
                <a:solidFill>
                  <a:srgbClr val="E8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404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нет такой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6537960" y="3118104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37960" y="3118104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635240" y="3072384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/todos/not-a-number</a:t>
            </a:r>
            <a:pPr indent="0" marL="0">
              <a:buNone/>
            </a:pPr>
            <a:r>
              <a:rPr lang="en-US" sz="1400" b="1" dirty="0">
                <a:solidFill>
                  <a:srgbClr val="E8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404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не 500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6537960" y="3721608"/>
            <a:ext cx="960120" cy="329184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37960" y="3721608"/>
            <a:ext cx="96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7635240" y="3675888"/>
            <a:ext cx="3931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323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/todos/1</a:t>
            </a:r>
            <a:pPr indent="0" marL="0">
              <a:buNone/>
            </a:pPr>
            <a:r>
              <a:rPr lang="en-US" sz="1400" b="1" dirty="0">
                <a:solidFill>
                  <a:srgbClr val="E869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 404</a:t>
            </a:r>
            <a:pPr indent="0" marL="0"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метод не тот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852160"/>
            <a:ext cx="11064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Postman: </a:t>
            </a:r>
            <a:pPr indent="0" marL="0">
              <a:buNone/>
            </a:pPr>
            <a:r>
              <a:rPr lang="en-US" sz="14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переменные base_url и token, проверка статуса в каждом запросе, id созданной задачи сохраняется в переменную коллекции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 · ЧЕК-ЛИСТ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Нефункциональные проверки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737360"/>
            <a:ext cx="1600200" cy="173736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548640" y="18288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пройдено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31720" y="1737360"/>
            <a:ext cx="1600200" cy="173736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2331720" y="18288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E869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 txBox="1"/>
          <p:nvPr/>
        </p:nvSpPr>
        <p:spPr>
          <a:xfrm>
            <a:off x="233172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пройдено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114800" y="1737360"/>
            <a:ext cx="1600200" cy="1737360"/>
          </a:xfrm>
          <a:prstGeom prst="roundRect">
            <a:avLst>
              <a:gd name="adj" fmla="val 1257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4114800" y="1828800"/>
            <a:ext cx="1600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5A717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5400" dirty="0"/>
          </a:p>
        </p:txBody>
      </p:sp>
      <p:sp>
        <p:nvSpPr>
          <p:cNvPr id="13" name="Text 11"/>
          <p:cNvSpPr txBox="1"/>
          <p:nvPr/>
        </p:nvSpPr>
        <p:spPr>
          <a:xfrm>
            <a:off x="4114800" y="2834640"/>
            <a:ext cx="1600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проверено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3749040"/>
            <a:ext cx="5166360" cy="2148840"/>
          </a:xfrm>
          <a:prstGeom prst="roundRect">
            <a:avLst>
              <a:gd name="adj" fmla="val 9362"/>
            </a:avLst>
          </a:prstGeom>
          <a:solidFill>
            <a:srgbClr val="FDE8DC"/>
          </a:solidFill>
          <a:ln w="12700">
            <a:solidFill>
              <a:srgbClr val="FDE8D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3977640"/>
            <a:ext cx="46634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900"/>
              </a:spcAft>
              <a:buNone/>
            </a:pPr>
            <a:r>
              <a:rPr lang="en-US" sz="17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прошли два пункта: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бейджа скидки — BR-001</a:t>
            </a:r>
            <a:endParaRPr lang="en-US" sz="17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сдвиги страницы, CLS 0,7 — BR-002</a:t>
            </a:r>
            <a:endParaRPr lang="en-US" sz="1700" dirty="0"/>
          </a:p>
          <a:p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Сайт проверил в Chrome, Edge и Яндекс Браузере</a:t>
            </a:r>
            <a:endParaRPr lang="en-US" sz="1700" dirty="0"/>
          </a:p>
        </p:txBody>
      </p:sp>
      <p:sp>
        <p:nvSpPr>
          <p:cNvPr id="16" name="Shape 14"/>
          <p:cNvSpPr/>
          <p:nvPr/>
        </p:nvSpPr>
        <p:spPr>
          <a:xfrm>
            <a:off x="6035040" y="1737360"/>
            <a:ext cx="5623560" cy="4160520"/>
          </a:xfrm>
          <a:prstGeom prst="roundRect">
            <a:avLst>
              <a:gd name="adj" fmla="val 483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graphicFrame>
        <p:nvGraphicFramePr>
          <p:cNvPr id="17" name="Chart 0" descr=""/>
          <p:cNvGraphicFramePr/>
          <p:nvPr/>
        </p:nvGraphicFramePr>
        <p:xfrm>
          <a:off x="6217920" y="1874520"/>
          <a:ext cx="5303520" cy="3886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 · АВТОМАТИЗАЦИЯ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Как устроены автотесты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3.12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148840" y="16459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1488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749040" y="16459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7490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349240" y="16459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3492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949440" y="1645920"/>
            <a:ext cx="1463040" cy="329184"/>
          </a:xfrm>
          <a:prstGeom prst="roundRect">
            <a:avLst>
              <a:gd name="adj" fmla="val 50000"/>
            </a:avLst>
          </a:prstGeom>
          <a:solidFill>
            <a:srgbClr val="E8692E"/>
          </a:solidFill>
          <a:ln w="12700">
            <a:solidFill>
              <a:srgbClr val="E869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949440" y="1645920"/>
            <a:ext cx="1463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286000"/>
            <a:ext cx="5760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Никаких time.sleep(): только явные ожидания Playwright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 каждого UI-теста свой контекст браузера, тесты не зависят друг от друга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Аннотации типов на всех функциях, flake8 без ошибок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Адреса и тестовые данные вынесены в config.py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Три режима запуска: все тесты, -m ui, -m api</a:t>
            </a:r>
            <a:endParaRPr lang="en-US" sz="16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каждом тесте allure.title, allure.story и шаги allure.step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675120" y="2240280"/>
            <a:ext cx="4983480" cy="3611880"/>
          </a:xfrm>
          <a:prstGeom prst="roundRect">
            <a:avLst>
              <a:gd name="adj" fmla="val 5570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949440" y="24231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github.com/Gera-lang405/skypro-diploma-automation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6949440" y="2926080"/>
            <a:ext cx="45720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skypro-diploma-automation/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config.py      адреса, данные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conftest.py    фикстуры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pytest.ini     маркеры ui / api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tests/api/     8 тестов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tests/ui/      5 тестов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E6F4F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screenshots/   Allure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949440" y="47091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9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Запуск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D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--alluredir=allure-results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D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 -m ui   ·   pytest -m api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 · РЕЗУЛЬТАТЫ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Прогон: 13 из 13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6002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2F7D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13/13</a:t>
            </a:r>
            <a:endParaRPr lang="en-US" sz="7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7889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34,7 сек · 8 API + 5 UI · 23.09.2026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337560"/>
            <a:ext cx="4937760" cy="2606040"/>
          </a:xfrm>
          <a:prstGeom prst="roundRect">
            <a:avLst>
              <a:gd name="adj" fmla="val 771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474720"/>
            <a:ext cx="4526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0B3C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починил в тестах по дороге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networkidle не наступал из-за фоновых запросов — жду нужный адрес и элементы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карточки находились ещё до поиска — беру только блок выдачи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подсказки поиска перекрывали клик — дожидаюсь их и закрываю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916168" y="1618488"/>
            <a:ext cx="5724144" cy="3037875"/>
          </a:xfrm>
          <a:prstGeom prst="roundRect">
            <a:avLst>
              <a:gd name="adj" fmla="val 361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pic>
        <p:nvPicPr>
          <p:cNvPr id="10" name="Image 0" descr="/tmp/claude-0/deck/img/allure_ov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691640"/>
            <a:ext cx="5577840" cy="2891571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5989320" y="4692939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Allure: обзор финального прогона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· ДЕФЕКТ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BR-001 · Бейдж скидки плохо читается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75488" y="1664208"/>
            <a:ext cx="5541264" cy="3331050"/>
          </a:xfrm>
          <a:prstGeom prst="roundRect">
            <a:avLst>
              <a:gd name="adj" fmla="val 329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pic>
        <p:nvPicPr>
          <p:cNvPr id="6" name="Image 0" descr="/tmp/claude-0/deck/img/badg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394960" cy="318474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517995" y="3414372"/>
            <a:ext cx="640080" cy="365760"/>
          </a:xfrm>
          <a:prstGeom prst="ellipse">
            <a:avLst/>
          </a:prstGeom>
          <a:solidFill>
            <a:srgbClr val="E8692E">
              <a:alpha val="0"/>
            </a:srgbClr>
          </a:solidFill>
          <a:ln w="31750">
            <a:solidFill>
              <a:srgbClr val="E869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5031834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chitai-gorod.ru, бейджи «-17%» и «-18%»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400800" y="17830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400800" y="17830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Minor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635240" y="1783080"/>
            <a:ext cx="1737360" cy="329184"/>
          </a:xfrm>
          <a:prstGeom prst="roundRect">
            <a:avLst>
              <a:gd name="adj" fmla="val 50000"/>
            </a:avLst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635240" y="1783080"/>
            <a:ext cx="1737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 Low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400800" y="23774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Ожидаемо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400800" y="267004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контраст текста не ниже 4,5:1 (WCAG 2.1 AA)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32461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400800" y="353872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4,04:1 — белый #FFFFFF на розовом #E1426C, 12px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400800" y="41148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найти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400800" y="440740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главная → подборка книг со скидкой → бейдж у цены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400800" y="49834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400800" y="5276088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людям со слабым зрением трудно прочитать размер скидки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· ДЕФЕКТ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BR-002 · Страница «прыгает»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75488" y="1664208"/>
            <a:ext cx="5815584" cy="2795500"/>
          </a:xfrm>
          <a:prstGeom prst="roundRect">
            <a:avLst>
              <a:gd name="adj" fmla="val 3925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pic>
        <p:nvPicPr>
          <p:cNvPr id="6" name="Image 0" descr="/tmp/claude-0/deck/img/ps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37360"/>
            <a:ext cx="5669280" cy="2649196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52567" y="3975931"/>
            <a:ext cx="548640" cy="384048"/>
          </a:xfrm>
          <a:prstGeom prst="ellipse">
            <a:avLst/>
          </a:prstGeom>
          <a:solidFill>
            <a:srgbClr val="E8692E">
              <a:alpha val="0"/>
            </a:srgbClr>
          </a:solidFill>
          <a:ln w="31750">
            <a:solidFill>
              <a:srgbClr val="E8692E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48640" y="4496284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PageSpeed Insights, компьютеры, данные пользователей Chrome за 28 дней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629400" y="1783080"/>
            <a:ext cx="1097280" cy="329184"/>
          </a:xfrm>
          <a:prstGeom prst="roundRect">
            <a:avLst>
              <a:gd name="adj" fmla="val 50000"/>
            </a:avLst>
          </a:prstGeom>
          <a:solidFill>
            <a:srgbClr val="E8692E"/>
          </a:solidFill>
          <a:ln w="12700">
            <a:solidFill>
              <a:srgbClr val="E8692E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6629400" y="1783080"/>
            <a:ext cx="1097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Major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863840" y="1783080"/>
            <a:ext cx="2011680" cy="329184"/>
          </a:xfrm>
          <a:prstGeom prst="roundRect">
            <a:avLst>
              <a:gd name="adj" fmla="val 50000"/>
            </a:avLst>
          </a:prstGeom>
          <a:solidFill>
            <a:srgbClr val="0F6E7A"/>
          </a:solidFill>
          <a:ln w="12700">
            <a:solidFill>
              <a:srgbClr val="0F6E7A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7863840" y="1783080"/>
            <a:ext cx="20116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Приоритет Medium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6629400" y="23774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Ожидаемо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6629400" y="267004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не больше 0,1 — зона «хорошо»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629400" y="324612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Фактически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6629400" y="353872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CLS = 0,7 — зона «плохо», Core Web Vitals не пройдены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6629400" y="41148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этом в норме</a:t>
            </a:r>
            <a:endParaRPr lang="en-US" sz="1300" dirty="0"/>
          </a:p>
        </p:txBody>
      </p:sp>
      <p:sp>
        <p:nvSpPr>
          <p:cNvPr id="18" name="Text 15"/>
          <p:cNvSpPr txBox="1"/>
          <p:nvPr/>
        </p:nvSpPr>
        <p:spPr>
          <a:xfrm>
            <a:off x="6629400" y="440740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LCP 2 сек, INP 117 мс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6629400" y="49834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Почему важно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6629400" y="5276088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блоки съезжают во время загрузки — легко нажать не туда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2BA7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· ВЫВОДЫ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40080"/>
            <a:ext cx="93268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в итоге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11155680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5120640" cy="4297680"/>
          </a:xfrm>
          <a:prstGeom prst="roundRect">
            <a:avLst>
              <a:gd name="adj" fmla="val 4681"/>
            </a:avLst>
          </a:prstGeom>
          <a:solidFill>
            <a:srgbClr val="0B3C49"/>
          </a:solidFill>
          <a:ln w="12700">
            <a:solidFill>
              <a:srgbClr val="0B3C49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868680" y="196596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Качество — удовлетворительное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2926080"/>
            <a:ext cx="45262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DC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Поиск и карточка товара работают, API отвечает как ожидается во всех 8 проверках, автотесты проходят 13 из 13.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CEF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Больше всего пользователю мешают сдвиги страницы при загрузке (BR-002). Контраст бейджей (BR-001) — вопрос доступности.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6126480" y="16916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3C4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Что бы я исправил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6126480" y="2331720"/>
            <a:ext cx="553212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355080" y="2606040"/>
            <a:ext cx="457200" cy="457200"/>
          </a:xfrm>
          <a:prstGeom prst="ellipse">
            <a:avLst/>
          </a:prstGeom>
          <a:solidFill>
            <a:srgbClr val="E8692E"/>
          </a:solidFill>
          <a:ln w="12700">
            <a:solidFill>
              <a:srgbClr val="E8692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355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95160" y="242316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BR-002 — в первую очередь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заранее резервировать место под баннеры и картинки, задавать им размеры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126480" y="3520440"/>
            <a:ext cx="553212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355080" y="3794760"/>
            <a:ext cx="457200" cy="457200"/>
          </a:xfrm>
          <a:prstGeom prst="ellipse">
            <a:avLst/>
          </a:prstGeom>
          <a:solidFill>
            <a:srgbClr val="2BA79A"/>
          </a:solidFill>
          <a:ln w="12700">
            <a:solidFill>
              <a:srgbClr val="2BA79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55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361188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BR-001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затемнить фон бейджа или сделать текст крупнее и жирнее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6126480" y="4709160"/>
            <a:ext cx="5532120" cy="10058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0B3C49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355080" y="4983480"/>
            <a:ext cx="457200" cy="457200"/>
          </a:xfrm>
          <a:prstGeom prst="ellipse">
            <a:avLst/>
          </a:prstGeom>
          <a:solidFill>
            <a:srgbClr val="2F7D4F"/>
          </a:solidFill>
          <a:ln w="12700">
            <a:solidFill>
              <a:srgbClr val="2F7D4F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355080" y="4983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95160" y="4800600"/>
            <a:ext cx="4526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3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Регрессия</a:t>
            </a:r>
            <a:endParaRPr lang="en-US" sz="1600" dirty="0"/>
          </a:p>
          <a:p>
            <a:pPr indent="0" marL="0">
              <a:buNone/>
            </a:pPr>
            <a:r>
              <a:rPr lang="en-US" sz="1400" dirty="0">
                <a:solidFill>
                  <a:srgbClr val="5A71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добавить автопроверки доступности и Core Web Vitals, чтобы дефекты не вернулись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9728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Спасибо!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28600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9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Готов ответить на вопросы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6949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Код и автотесты</a:t>
            </a:r>
            <a:endParaRPr lang="en-US" sz="1300" dirty="0"/>
          </a:p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github.com/Gera-lang405/skypro-diploma-automation</a:t>
            </a:r>
            <a:endParaRPr lang="en-US" sz="13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FE0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Итоговый отчёт в Yonote</a:t>
            </a:r>
            <a:endParaRPr lang="en-US" sz="1300" dirty="0"/>
          </a:p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georgi1412qa.yonote.ru/share/5222c94a-8b37-4324-822a-e8b78ffc8325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4846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Георгий Селиванов · Сочи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Дипломная работа — Читай-город + Todo List API</dc:title>
  <dc:subject>PptxGenJS Presentation</dc:subject>
  <dc:creator>Георгий Селиванов</dc:creator>
  <cp:lastModifiedBy>Георгий Селиванов</cp:lastModifiedBy>
  <cp:revision>1</cp:revision>
  <dcterms:created xsi:type="dcterms:W3CDTF">2026-09-23T18:05:01Z</dcterms:created>
  <dcterms:modified xsi:type="dcterms:W3CDTF">2026-09-23T18:05:01Z</dcterms:modified>
</cp:coreProperties>
</file>