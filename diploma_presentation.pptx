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Calibri"/>
              </a:rPr>
              <a:t>Пункты по видам проверок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Пройдено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UI/UX</c:v>
                  </c:pt>
                  <c:pt idx="1">
                    <c:v>Кросс-браузерность</c:v>
                  </c:pt>
                  <c:pt idx="2">
                    <c:v>Доступность</c:v>
                  </c:pt>
                  <c:pt idx="3">
                    <c:v>Производительность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Не пройдено</c:v>
                </c:pt>
              </c:strCache>
            </c:strRef>
          </c:tx>
          <c:spPr>
            <a:solidFill>
              <a:srgbClr val="E869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UI/UX</c:v>
                  </c:pt>
                  <c:pt idx="1">
                    <c:v>Кросс-браузерность</c:v>
                  </c:pt>
                  <c:pt idx="2">
                    <c:v>Доступность</c:v>
                  </c:pt>
                  <c:pt idx="3">
                    <c:v>Производительность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2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32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Привет! Я Георгий, это моя дипломная работа по тестированию. Проверял одно приложение — интернет-магазин «Читай-город»: через интерфейс сайта и через его API. Расскажу, что и как тестировал, что нашёл и какие выводы сделал.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диплома — показать полный цикл: от тест-плана до отчёта. Я шёл по шагам: план, кейсы и чек-лист, коллекция в Postman, автотесты и в конце прогон с отчётом.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тестирование — на одном приложении, «Читай-городе». Интерфейс проверял без входа в аккаунт: поиск и карточку товара. API — открытое API поиска: сервис сам выдаёт анонимный токен, дальше я проверяю поиск товаров, подсказки и популярные запросы.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API-часть была на учебном сервере, но он перестал отвечать, и я временно перенёс кейсы на тренировочный сервис. Наставник справедливо заметила, что UI и API должны быть про одно приложение. Я нашёл открытое API Читай-города и переписал под него кейсы, коллекцию и автотесты.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объём документации. Функциональных кейсов пять, все позитивные. API-кейсов одиннадцать: шесть позитивных и пять негативных. Чек-лист — двенадцать пунктов по четырём видам проверок. Вся документация лежит в Yonote рядом с отчётом, на GitHub — только код автотестов.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Функциональные кейсы — про поиск и карточку товара. Ищу по названию и по автору, проверяю, что выдача показывается, что из неё открывается карточка и что в карточке есть название книги.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Позитивные проверки: получение анонимного токена, поиск по названию и по автору, вторая страница выдачи, подсказки и популярные фразы. Негативные строятся на реальной валидации сервиса: без токена — 401, слишком короткая фраза — 400, отрицательная страница — 422, неподдерживаемый метод — 405. А на несуществующий город сервис отвечает 500 — это найденный дефект. Всё это есть и в коллекции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Нефункциональный чек-лист — двенадцать пунктов: интерфейс, кросс-браузерность, доступность и производительность. Десять прошли, два нет, и по обоим я завёл дефекты. Сайт смотрел в Chrome, Edge и Яндекс Браузере.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по заданию: pytest, requests для API, Playwright для интерфейса, отчёты в Allure. Жёстких пауз нет, только явные ожидания. Тесты независимые, данные вынесены в конфиг, линтер чистый.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прогон: все тесты прошли, кроме одного, который специально помечен как ожидаемо падающий — он фиксирует найденный дефект API. Покажу отчёт Allure.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дефект — доступность. Белый текст на розовом бейдже скидки даёт контраст 4,04 к 1, а по WCAG нужно минимум 4,5. Прочитать можно, но людям со слабым зрением тяжело. Серьёзность низкая, приоритет низкий.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дефект серьёзнее. По реальным данным пользователей Chrome главная страница сильно «прыгает» при загрузке: CLS 0,7 при норме до 0,1. Для покупателя это значит, что кнопка может уехать из-под пальца. Скорость загрузки при этом нормальная.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дефект нашёлся в API. Если передать в поиск номер города, которого нет в справочнике, сервис отвечает ошибкой сервера 500. Правильно — ответить ошибкой клиента, как он уже делает для нуля и отрицательных значений. Автотест на этот случай помечен как ожидаемо падающий.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Вывод: приложение в целом рабочее, ключевые функции работают. Первым я бы исправил сдвиги страницы, затем обработку несуществующего города в API, потом контраст бейджей, а в регрессию добавил бы проверки доступности и скорости.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Ссылки на код и отчёт — на слайде.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ДИПЛОМНАЯ РАБОТА · ИНЖЕНЕР ПО ТЕСТИРОВАНИЮ · SKY.PRO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Тестирую Читай-город: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сайт и API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Функциональное, API- и нефункциональное тестирование. Автотесты на pytest + Playwright, отчёт в Allure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Георгий Селиванов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Сочи · сентябрь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ЗАЧЕМ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я хотел проверить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754880" cy="4206240"/>
          </a:xfrm>
          <a:prstGeom prst="roundRect">
            <a:avLst>
              <a:gd name="adj" fmla="val 478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E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весь цикл QA на живом сайте: спланировать, написать кейсы, проверить руками и автотестами, найти дефекты и оформить их так, чтобы разработчику было понятно, что чинить.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760720" y="1828800"/>
            <a:ext cx="457200" cy="45720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Тест-план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тестирую, каким способом и в какие сроки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60720" y="2651760"/>
            <a:ext cx="457200" cy="45720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Тест-кейсы и чек-лист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UI-кейсов, 11 API-кейсов, 12 нефункциональных проверок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760720" y="3474720"/>
            <a:ext cx="457200" cy="45720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4290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Postman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запросов к API Читай-города с проверками и переменными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760720" y="4297680"/>
            <a:ext cx="457200" cy="45720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2519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requests для API, Playwright для интерфейса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760720" y="5120640"/>
            <a:ext cx="457200" cy="457200"/>
          </a:xfrm>
          <a:prstGeom prst="ellipse">
            <a:avLst/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074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и отчёт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Allure, баг-репорты, выводы в Yonote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ОБЪЕКТЫ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чем я работал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3886200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Читай-город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09160" y="18928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92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chitai-gorod.ru · веб-интерфейс, гостевой режим</a:t>
            </a:r>
            <a:endParaRPr lang="en-US" sz="1300" dirty="0"/>
          </a:p>
        </p:txBody>
      </p:sp>
      <p:pic>
        <p:nvPicPr>
          <p:cNvPr id="10" name="Image 0" descr="/tmp/claude-0/deck/img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97480"/>
            <a:ext cx="4846320" cy="16143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6868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книги по названию и фамилии автора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карточку товара и её содержимое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1645920"/>
            <a:ext cx="5349240" cy="3886200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62940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Читай-города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332720" y="18928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332720" y="18928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web-agr.chitai-gorod.ru/web/api · анонимный Bearer-токен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29400" y="278892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27889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/v1/auth/anonymous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29400" y="341071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34107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3337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/v2/search/product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товаров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29400" y="403250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40325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3959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/v2/search/search-phrase-suggests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29400" y="4654296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9400" y="4654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43800" y="4581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/v2/search/popular-search-phrases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популярные фразы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приложение, три ключевые функции: поиск книги · карточка товара · подсказки и популярные запросы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КАК МЕНЯЛАСЬ API-ЧАСТЬ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API переехал на Читай-город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8880" cy="33832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 план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сервер Todo List API. В Postman прошли 17 из 17 кейсов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468880" cy="3383280"/>
          </a:xfrm>
          <a:prstGeom prst="roundRect">
            <a:avLst>
              <a:gd name="adj" fmla="val 8148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194560"/>
            <a:ext cx="548640" cy="548640"/>
          </a:xfrm>
          <a:prstGeom prst="ellipse">
            <a:avLst/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 упал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23.09 перестал отвечать. Временно перенёс кейсы на JSONPlaceholder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468880" cy="338328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2194560"/>
            <a:ext cx="548640" cy="548640"/>
          </a:xfrm>
          <a:prstGeom prst="ellipse">
            <a:avLst/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Замечание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Наставник: UI и API должны относиться к одному приложению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05088" y="3291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52560" y="1920240"/>
            <a:ext cx="2468880" cy="3383280"/>
          </a:xfrm>
          <a:prstGeom prst="roundRect">
            <a:avLst>
              <a:gd name="adj" fmla="val 8148"/>
            </a:avLst>
          </a:prstGeom>
          <a:solidFill>
            <a:srgbClr val="E3F2E6"/>
          </a:solidFill>
          <a:ln w="12700">
            <a:solidFill>
              <a:srgbClr val="E3F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0" y="2194560"/>
            <a:ext cx="548640" cy="54864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4290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самого Читай-города: токен, поиск, подсказки. Кейсы, Postman и автотесты переписаны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Подробности — в разделе «История изменений» тест-плана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ДОКУМЕНТАЦИЯ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Документация в цифрах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283464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B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функциональных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позитивные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560320" cy="283464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API-тест-кейсов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позитивных + 5 негативных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560320" cy="283464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F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вида проверок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1783080"/>
            <a:ext cx="2560320" cy="283464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26880" y="19202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UI + 11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2560320" cy="822960"/>
          </a:xfrm>
          <a:prstGeom prst="roundRect">
            <a:avLst>
              <a:gd name="adj" fmla="val 24444"/>
            </a:avLst>
          </a:prstGeom>
          <a:solidFill>
            <a:srgbClr val="E4F2F1"/>
          </a:solidFill>
          <a:ln w="12700">
            <a:solidFill>
              <a:srgbClr val="E4F2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001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Тест-план и отчёт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4937760"/>
            <a:ext cx="2560320" cy="822960"/>
          </a:xfrm>
          <a:prstGeom prst="roundRect">
            <a:avLst>
              <a:gd name="adj" fmla="val 24444"/>
            </a:avLst>
          </a:prstGeom>
          <a:solidFill>
            <a:srgbClr val="E4F2F1"/>
          </a:solidFill>
          <a:ln w="12700">
            <a:solidFill>
              <a:srgbClr val="E4F2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5001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 и чек-лист, XLS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937760"/>
            <a:ext cx="2560320" cy="822960"/>
          </a:xfrm>
          <a:prstGeom prst="roundRect">
            <a:avLst>
              <a:gd name="adj" fmla="val 24444"/>
            </a:avLst>
          </a:prstGeom>
          <a:solidFill>
            <a:srgbClr val="E4F2F1"/>
          </a:solidFill>
          <a:ln w="12700">
            <a:solidFill>
              <a:srgbClr val="E4F2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5001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Postman, JSON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Yonote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4937760"/>
            <a:ext cx="2560320" cy="822960"/>
          </a:xfrm>
          <a:prstGeom prst="roundRect">
            <a:avLst>
              <a:gd name="adj" fmla="val 24444"/>
            </a:avLst>
          </a:prstGeom>
          <a:solidFill>
            <a:srgbClr val="E4F2F1"/>
          </a:solidFill>
          <a:ln w="12700">
            <a:solidFill>
              <a:srgbClr val="E4F2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5001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автотестов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ФУНКЦИОНАЛЬНЫЕ КЕЙСЫ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Интерфейс: поиск и карточка товара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7452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74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647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книги по названию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12064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514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товар в выдаче отображается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512064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37413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3741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264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фамилии автора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512064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12394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123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014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из выдачи в карточку товара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512064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87375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873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764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видно название книги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пять кейсов позитивные и закрыты автотестами на Playwright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9048" y="1709928"/>
            <a:ext cx="5541264" cy="1943426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27" name="Image 0" descr="/tmp/claude-0/deck/img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394960" cy="179712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172200" y="368993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по запросу «Роулинг»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99048" y="4101410"/>
            <a:ext cx="5541264" cy="1800692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30" name="Image 1" descr="/tmp/claude-0/deck/img/produ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74562"/>
            <a:ext cx="5394960" cy="165438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172200" y="593867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товара: название, автор, цена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API-КЕЙСЫ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API: что проверяю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Позитивные · 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77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32257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/auth/anonymous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201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токен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926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8712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/search/product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 названию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47472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41985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/search/product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 автору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023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23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96849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/search/product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страница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5720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72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451713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/search-phrase-suggests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подсказки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12064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1206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06577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/popular-search-phrases</a:t>
            </a:r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популярные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645920"/>
            <a:ext cx="544068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Негативные · 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537960" y="237744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377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232257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токена</a:t>
            </a:r>
            <a:pPr indent="0" marL="0">
              <a:buNone/>
            </a:pPr>
            <a:r>
              <a:rPr lang="en-US" sz="1300" b="1" dirty="0">
                <a:solidFill>
                  <a:srgbClr val="E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401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29260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7960" y="2926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8712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phrase=a</a:t>
            </a:r>
            <a:pPr indent="0" marL="0">
              <a:buNone/>
            </a:pPr>
            <a:r>
              <a:rPr lang="en-US" sz="1300" b="1" dirty="0">
                <a:solidFill>
                  <a:srgbClr val="E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400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мин. 2 символа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347472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34747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341985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products[page]=-1</a:t>
            </a:r>
            <a:pPr indent="0" marL="0">
              <a:buNone/>
            </a:pPr>
            <a:r>
              <a:rPr lang="en-US" sz="1300" b="1" dirty="0">
                <a:solidFill>
                  <a:srgbClr val="E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422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4023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4023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396849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/search/product</a:t>
            </a:r>
            <a:pPr indent="0" marL="0">
              <a:buNone/>
            </a:pPr>
            <a:r>
              <a:rPr lang="en-US" sz="1300" b="1" dirty="0">
                <a:solidFill>
                  <a:srgbClr val="E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405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45720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4572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451713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customerCityId=99999</a:t>
            </a:r>
            <a:pPr indent="0" marL="0">
              <a:buNone/>
            </a:pPr>
            <a:r>
              <a:rPr lang="en-US" sz="1300" b="1" dirty="0">
                <a:solidFill>
                  <a:srgbClr val="E86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500</a:t>
            </a:r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BR-003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Postman: </a:t>
            </a:r>
            <a:pPr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 и token во всех запросах, токен получает первый запрос, id найденного товара сохраняется в product_id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ЧЕК-ЛИСТ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Нефункциональные проверки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600200" cy="173736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737360"/>
            <a:ext cx="1600200" cy="173736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31720" y="18288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6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пройдено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1737360"/>
            <a:ext cx="1600200" cy="1737360"/>
          </a:xfrm>
          <a:prstGeom prst="roundRect">
            <a:avLst>
              <a:gd name="adj" fmla="val 1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114800" y="18288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A71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проверено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66360" cy="2148840"/>
          </a:xfrm>
          <a:prstGeom prst="roundRect">
            <a:avLst>
              <a:gd name="adj" fmla="val 9362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прошли два пункта: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бейджа скидки — BR-001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сдвиги страницы, CLS 0,7 — BR-002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проверил в Chrome, Edge и Яндекс Браузере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562356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graphicFrame>
        <p:nvGraphicFramePr>
          <p:cNvPr id="17" name="Chart 0" descr=""/>
          <p:cNvGraphicFramePr/>
          <p:nvPr/>
        </p:nvGraphicFramePr>
        <p:xfrm>
          <a:off x="6217920" y="1874520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АВТОМАТИЗАЦИЯ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устроены автотесты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645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1645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645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240280"/>
            <a:ext cx="5852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time.sleep(): только явные ожидания Playwright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UI-теста свой контекст браузера, тесты не зависят друг от друга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 типов на всех функциях, flake8 без ошибок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 и тестовые данные вынесены в config.py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API-тесты сами получают анонимный токен (фикстура api_token)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режима запуска: все тесты, -m ui, -m api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тесте allure.title, allure.story и шаги allure.step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2240280"/>
            <a:ext cx="4983480" cy="3611880"/>
          </a:xfrm>
          <a:prstGeom prst="roundRect">
            <a:avLst>
              <a:gd name="adj" fmla="val 557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944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github.com/Gera-lang405/skypro-diploma-automation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9260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skypro-diploma-automation/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config.py      адреса, данные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conftest.py    фикстуры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pytest.ini     маркеры ui /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tests/api/     11 тестов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tests/ui/      5 тестов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screenshots/   Allure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709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D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--alluredir=allure-results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D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ui   ·   pytest -m api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РЕЗУЛЬТАТЫ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Прогон автотестов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из 16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прошли · 56 секунд · 26.09.2026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4937760" cy="1143000"/>
          </a:xfrm>
          <a:prstGeom prst="roundRect">
            <a:avLst>
              <a:gd name="adj" fmla="val 17600"/>
            </a:avLst>
          </a:prstGeom>
          <a:solidFill>
            <a:srgbClr val="FDE8DC"/>
          </a:solidFill>
          <a:ln w="12700">
            <a:solidFill>
              <a:srgbClr val="FDE8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3832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тест ожидаемо падает (xfail)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фиксирует дефект API BR-003 и сообщит, когда его исправят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ходу прогонов поправил ожидания в UI-тестах: теперь они ждут именно результаты поиска, а не карточки с главной.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16168" y="1618488"/>
            <a:ext cx="5724144" cy="3079231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11" name="Image 0" descr="/tmp/claude-0/deck/img/allure_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577840" cy="293292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89320" y="4734295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Allure: обзор финального прогона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ДЕФЕКТ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BR-001 · Бейдж скидки плохо читается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5541264" cy="333105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6" name="Image 0" descr="/tmp/claude-0/deck/img/bad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94960" cy="31847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17995" y="3414372"/>
            <a:ext cx="640080" cy="365760"/>
          </a:xfrm>
          <a:prstGeom prst="ellipse">
            <a:avLst/>
          </a:prstGeom>
          <a:solidFill>
            <a:srgbClr val="E8692E">
              <a:alpha val="0"/>
            </a:srgbClr>
          </a:solidFill>
          <a:ln w="31750">
            <a:solidFill>
              <a:srgbClr val="E869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03183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chitai-gorod.ru, бейджи «-17%» и «-18%»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783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17830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783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Low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3774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Ожидаемо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6700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 текста не ниже 4,5:1 (WCAG 2.1 AA)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2461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5387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4,04:1 — белый #FFFFFF на розовом #E1426C, 12px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114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найти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4074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→ подборка книг со скидкой → бейдж у цены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4983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52760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людям со слабым зрением трудно прочитать размер скидки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ДЕФЕКТ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BR-002 · Страница «прыгает»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5815584" cy="27955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6" name="Image 0" descr="/tmp/claude-0/deck/img/p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669280" cy="26491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52567" y="3975931"/>
            <a:ext cx="548640" cy="384048"/>
          </a:xfrm>
          <a:prstGeom prst="ellipse">
            <a:avLst/>
          </a:prstGeom>
          <a:solidFill>
            <a:srgbClr val="E8692E">
              <a:alpha val="0"/>
            </a:srgbClr>
          </a:solidFill>
          <a:ln w="31750">
            <a:solidFill>
              <a:srgbClr val="E869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4962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 Insights, компьютеры, данные пользователей Chrome за 28 дней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783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17830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Medium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Ожидаемо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26700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не больше 0,1 — зона «хорошо»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246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5387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= 0,7 — зона «плохо», Core Web Vitals не пройдены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4114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этом в норме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407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2 сек, INP 117 мс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276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съезжают во время загрузки — легко нажать не туда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ДЕФЕКТ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BR-003 · API падает на чужом городе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5815584" cy="2664753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pic>
        <p:nvPicPr>
          <p:cNvPr id="6" name="Image 0" descr="/tmp/claude-0/deck/img/br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669280" cy="25184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36553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Allure: тест BR-003 и приложенный ответ сервиса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29400" y="1783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83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17830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Medium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6700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3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/v2/search/product?…&amp;customerCityId=99999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3246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Ожидаемо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5387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клиента 4xx: города нет в справочнике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4114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Фактически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44074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«application error» на все 4 проверенных несуществующих id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5276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ломается вместо понятной ошибки, 500 засоряют мониторинг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ВЫВОДЫ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 итоге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468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— удовлетворительное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карточка товара работают в интерфейсе и через API, сервис правильно валидирует большинство неверных запросов.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всего пользователю мешают сдвиги страницы при загрузке (BR-002). В API несуществующий город роняет поиск с 500 (BR-003). Контраст бейджей (BR-001) — вопрос доступности.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бы я исправил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26480" y="2331720"/>
            <a:ext cx="553212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606040"/>
            <a:ext cx="457200" cy="457200"/>
          </a:xfrm>
          <a:prstGeom prst="ellipse">
            <a:avLst/>
          </a:prstGeom>
          <a:solidFill>
            <a:srgbClr val="E8692E"/>
          </a:solidFill>
          <a:ln w="12700">
            <a:solidFill>
              <a:srgbClr val="E869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4231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BR-002 — в первую очередь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резервировать место под баннеры и картинки, задавать им размеры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520440"/>
            <a:ext cx="553212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3794760"/>
            <a:ext cx="457200" cy="457200"/>
          </a:xfrm>
          <a:prstGeom prst="ellipse">
            <a:avLst/>
          </a:prstGeom>
          <a:solidFill>
            <a:srgbClr val="2BA79A"/>
          </a:solidFill>
          <a:ln w="12700">
            <a:solidFill>
              <a:srgbClr val="2BA7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611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customerCityId по справочнику и отвечать 404 или 422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4709160"/>
            <a:ext cx="553212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4983480"/>
            <a:ext cx="457200" cy="457200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BR-001 и регрессия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затемнить фон бейджа; добавить автопроверки доступности и скорости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и автотесты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github.com/Gera-lang405/skypro-diploma-automation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отчёт в Yonote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georgi1412qa.yonote.ru/share/5222c94a-8b37-4324-822a-e8b78ffc8325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Георгий Селиванов · Сочи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 — Читай-город: сайт и API</dc:title>
  <dc:subject>PptxGenJS Presentation</dc:subject>
  <dc:creator>Георгий Селиванов</dc:creator>
  <cp:lastModifiedBy>Георгий Селиванов</cp:lastModifiedBy>
  <cp:revision>1</cp:revision>
  <dcterms:created xsi:type="dcterms:W3CDTF">2026-09-26T21:00:26Z</dcterms:created>
  <dcterms:modified xsi:type="dcterms:W3CDTF">2026-09-26T21:00:26Z</dcterms:modified>
</cp:coreProperties>
</file>